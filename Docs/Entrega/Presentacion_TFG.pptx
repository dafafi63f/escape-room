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Buenos días. Presento el TFG: cuestionario gamificado para el grado MatCAD — 480 preguntas, cinco modos en pygame y herramientas de validación.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minutos aprox. Dejar margen para preguntas del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Marco del grado UAB. El proyecto especializa la práctica por materia y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Complemento a recursos institucionales, no sustituto de AulaWeb o Moodle.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Figura 1 de la memoria. Escape rooms point-and-click: salas, inventario, puertas. No reproducimos la estética comercial.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1 de la memoria. Priorizamos el núcleo evaluable antes de mostrar capturas.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Izq.: sala con 3 puertas · Der.: pregunta A–D con inventario. Capturas pygame (semilla fija).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Entregable v1.0.0 cerrado en junio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OE1 parcial en capa narrativa visual; OE5 sin piloto con usuarios.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H1–H3 contrastadas con datos del sistema. Motivación → piloto futuro.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Desarrollo incremental con control de versiones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Banco cerrado junio 2026. Ampliado (960) opcional y etiquetado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Modularidad: nuevos modos sin romper el motor ni el banco.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Barra superior: examen del día, estadísticas, opciones.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Carrusel de presets con prioridad histórica. Ejemplo materias exigentes: Càlcul DV, Probabilitat, Anàlisi Complexa.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Mecánicas inspiradas en Inka; contenido siempre del banco MatCAD.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Integridad verificada en cada push (GitHub Actions).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 el motor de corrección; detalle en memoria §5.7.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10 000 réplicas · 30 salas · simulacion_pity.py (memoria §5.8).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Competencias: Python, diseño de datos, ingeniería incremental.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de piloto ya descrito en memoria §7.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Agradecer al tutor y al tribunal.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9144000" cy="937259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b="1" sz="2600">
                <a:solidFill>
                  <a:srgbClr val="1A3A5C"/>
                </a:solidFill>
              </a:defRPr>
            </a:pPr>
            <a:r>
              <a:t>Diseño y desarrollo de un juego interactivo educativo</a:t>
            </a:r>
            <a:br/>
            <a:r>
              <a:t>basado en contenidos del grado MatCAD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246120"/>
            <a:ext cx="81381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A2A2A"/>
                </a:solidFill>
              </a:defRPr>
            </a:pPr>
            <a:r>
              <a:t>Daniel Fageda Figueredo · NIU 1601846</a:t>
            </a:r>
            <a:br/>
            <a:r>
              <a:t>Tutor: Víctor Navas Portella</a:t>
            </a:r>
            <a:br/>
            <a:r>
              <a:t>Universitat Autònoma de Barcelona · v1.0.0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Índice de la exposición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1. Contexto, problema e inspiración (Inka Games → MatCAD)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2. Objetivos, hipótesis, metodología y alcance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3. Banco de preguntas y arquitectura del sistema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4. La aplicación: cinco modos de juego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5. Validación: tests, Monte Carlo y sistema pity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6. Conclusiones y limitaciones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Contexto: grado MatCAD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Matemáticas, programación y ciencia de datos en un plan de 4 cursos.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40 materias · 10 grupos temáticos · evaluación continua.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Necesidad de autoevaluación alineada al plan de estudios.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Gamificación y serious games como complemento formativo.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Problema y motivación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Practicar por curso, semestre o materia sin montar listados a mano.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Herramientas genéricas sin metadatos curriculares del grado.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Retroalimentación inmediata y mecánicas que incentiven la repetición.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Meta: banco auditable + juego extensible + trazabilidad pedagógica.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Inspiración: Inka Games</a:t>
            </a:r>
          </a:p>
        </p:txBody>
      </p:sp>
      <p:pic>
        <p:nvPicPr>
          <p:cNvPr id="5" name="Picture 4" descr="inkagames_gameplay_refe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359" y="987552"/>
            <a:ext cx="6177280" cy="34747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4507992"/>
            <a:ext cx="8375904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888888"/>
                </a:solidFill>
              </a:defRPr>
            </a:pPr>
            <a:r>
              <a:t>Inka Games — referencia narrativa (uso académico ilustrativo)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Inka Games vs. entregable educativo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Inka Games (referencia)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35024"/>
            <a:ext cx="4073652" cy="3374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Entretenimiento comercial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Puzles lógicos y objetos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Narrativa gráfica completa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Sin vínculo curricular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300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TFG MATCAD (entregable)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6300" y="1335024"/>
            <a:ext cx="4073652" cy="3374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Autoevaluación formativa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Preguntas A–D del banco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Mecánicas jugables; guion visual pendiente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40 materias con metadatos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Adaptación: escape room MatCAD</a:t>
            </a:r>
          </a:p>
        </p:txBody>
      </p:sp>
      <p:pic>
        <p:nvPicPr>
          <p:cNvPr id="5" name="Picture 4" descr="tfg_escape_sala_puer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87552"/>
            <a:ext cx="4123944" cy="30929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4048" y="4126230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Sala 1 — elige puerta</a:t>
            </a:r>
          </a:p>
        </p:txBody>
      </p:sp>
      <p:pic>
        <p:nvPicPr>
          <p:cNvPr id="7" name="Picture 6" descr="tfg_escape_pregun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7" y="987552"/>
            <a:ext cx="4123944" cy="30929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636007" y="4126230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Pregunta del banco con inventario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Alcance y entregable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87552"/>
            <a:ext cx="2011680" cy="960120"/>
          </a:xfrm>
          <a:prstGeom prst="roundRect">
            <a:avLst/>
          </a:prstGeom>
          <a:solidFill>
            <a:srgbClr val="E8F0F8"/>
          </a:solidFill>
          <a:ln>
            <a:solidFill>
              <a:srgbClr val="2E6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6070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A3A5C"/>
                </a:solidFill>
              </a:defRPr>
            </a:pPr>
            <a:r>
              <a:t>5</a:t>
            </a:r>
          </a:p>
          <a:p>
            <a:pPr algn="ctr">
              <a:defRPr sz="1000">
                <a:solidFill>
                  <a:srgbClr val="2A2A2A"/>
                </a:solidFill>
              </a:defRPr>
            </a:pPr>
            <a:r>
              <a:t>modos de juego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5456" y="987552"/>
            <a:ext cx="2011680" cy="960120"/>
          </a:xfrm>
          <a:prstGeom prst="roundRect">
            <a:avLst/>
          </a:prstGeom>
          <a:solidFill>
            <a:srgbClr val="E8F0F8"/>
          </a:solidFill>
          <a:ln>
            <a:solidFill>
              <a:srgbClr val="2E6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5456" y="106070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A3A5C"/>
                </a:solidFill>
              </a:defRPr>
            </a:pPr>
            <a:r>
              <a:t>480</a:t>
            </a:r>
          </a:p>
          <a:p>
            <a:pPr algn="ctr">
              <a:defRPr sz="1000">
                <a:solidFill>
                  <a:srgbClr val="2A2A2A"/>
                </a:solidFill>
              </a:defRPr>
            </a:pPr>
            <a:r>
              <a:t>preguntas revisadas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26864" y="987552"/>
            <a:ext cx="2011680" cy="960120"/>
          </a:xfrm>
          <a:prstGeom prst="roundRect">
            <a:avLst/>
          </a:prstGeom>
          <a:solidFill>
            <a:srgbClr val="E8F0F8"/>
          </a:solidFill>
          <a:ln>
            <a:solidFill>
              <a:srgbClr val="2E6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06070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A3A5C"/>
                </a:solidFill>
              </a:defRPr>
            </a:pPr>
            <a:r>
              <a:t>578</a:t>
            </a:r>
          </a:p>
          <a:p>
            <a:pPr algn="ctr">
              <a:defRPr sz="1000">
                <a:solidFill>
                  <a:srgbClr val="2A2A2A"/>
                </a:solidFill>
              </a:defRPr>
            </a:pPr>
            <a:r>
              <a:t>tests automáticos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8272" y="987552"/>
            <a:ext cx="2011680" cy="960120"/>
          </a:xfrm>
          <a:prstGeom prst="roundRect">
            <a:avLst/>
          </a:prstGeom>
          <a:solidFill>
            <a:srgbClr val="E8F0F8"/>
          </a:solidFill>
          <a:ln>
            <a:solidFill>
              <a:srgbClr val="2E6B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060704"/>
            <a:ext cx="2011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2200">
                <a:solidFill>
                  <a:srgbClr val="1A3A5C"/>
                </a:solidFill>
              </a:defRPr>
            </a:pPr>
            <a:r>
              <a:t>2</a:t>
            </a:r>
          </a:p>
          <a:p>
            <a:pPr algn="ctr">
              <a:defRPr sz="1000">
                <a:solidFill>
                  <a:srgbClr val="2A2A2A"/>
                </a:solidFill>
              </a:defRPr>
            </a:pPr>
            <a:r>
              <a:t>paquetes 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130552"/>
            <a:ext cx="8375904" cy="253288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Cuestionario gamificado + banco estructurado + scripts de mantenimiento.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Distribución portable (completo) y mínima (solo CSV).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Objetivos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987552"/>
            <a:ext cx="8375904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42416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42416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Juego educativo con retos del grado MatCAD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1042416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B7A4A"/>
                </a:solidFill>
              </a:defRPr>
            </a:pPr>
            <a:r>
              <a:t>Cumplido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517904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OE1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17904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Narrativa interactiva (escape room)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9632" y="1517904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86E00"/>
                </a:solidFill>
              </a:defRPr>
            </a:pPr>
            <a:r>
              <a:t>Parcial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1938528"/>
            <a:ext cx="8375904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1993392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OE2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93392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Retos por materias (480 ítems)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993392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B7A4A"/>
                </a:solidFill>
              </a:defRPr>
            </a:pPr>
            <a:r>
              <a:t>Cumplido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2468880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OE3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468880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Validación automática A–D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2468880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B7A4A"/>
                </a:solidFill>
              </a:defRPr>
            </a:pPr>
            <a:r>
              <a:t>Cumplido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2889504"/>
            <a:ext cx="8375904" cy="438912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2944368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OE4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944368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Interfaz gráfica pygame-ce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9632" y="2944368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1B7A4A"/>
                </a:solidFill>
              </a:defRPr>
            </a:pPr>
            <a:r>
              <a:t>Cumplido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19856"/>
            <a:ext cx="64008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A2A2A"/>
                </a:solidFill>
              </a:defRPr>
            </a:pPr>
            <a:r>
              <a:t>OE5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9856"/>
            <a:ext cx="50292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2A2A2A"/>
                </a:solidFill>
              </a:defRPr>
            </a:pPr>
            <a:r>
              <a:t>Valor formativo contrastado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419856"/>
            <a:ext cx="137160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B86E00"/>
                </a:solidFill>
              </a:defRPr>
            </a:pPr>
            <a:r>
              <a:t>Parcial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Hipótesis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H1: banco segmentado → autoevaluación por filtros (modo libre).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H2: pipeline automatizado → inconsistencias reproducibles.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H3: histórico 8 818 notas → ponderación en modo historia.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Monte Carlo: el azar no aprueba (nota media 2,5/10).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Metodología en cuatro fases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Fase 1 — Análisis: plan MatCAD, esquema del banco, requisitos.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Fase 2 — Implementación: Python, pygame-ce, 5 modos, scripts.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Fase 3 — Pruebas: revisión 480/480, 578 tests, CI GitHub Actions.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Fase 4 — Evaluación: Monte Carlo, pity, memoria y limitaciones.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11/20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Banco de preguntas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480 ítems · 40 materias · 12/materia (2FT…2DC).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160 Fácil · 160 Media · 160 Difícil.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240 Teoría · 240 Cálculo.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Revisión manual 480/480 · 0 duplicados.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Metadatos: curso, semestre, grupo G1–G10, nivel, temática.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12/20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Arquitectura en cinco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1. Lanzador — juego_grafico.py (pygame-ce)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2. Modos — libre, historia, resistencia, escape, feedback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3. Motor — Comun/ (reglas, vidas, puntuación, informes)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4. Datos — CSV/JSON en Data/Banco/ y Data/Juego/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5. Mantenimiento — Files/mantenimiento.py (fuera del juego)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13/20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Cinco modos operativos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3073115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Libre — filtros multidimensionales.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Historia — examen según histórico.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Resistencia — rachas, apuestas, eventos.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Escape — salas, tienda, inventario.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Feedback — mejora continua del banco.</a:t>
            </a:r>
          </a:p>
        </p:txBody>
      </p:sp>
      <p:pic>
        <p:nvPicPr>
          <p:cNvPr id="6" name="Picture 5" descr="tfg_menu_princip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91" y="987552"/>
            <a:ext cx="4962144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14/20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Modo historia (validación H3)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3073115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8 818 registros de calificaciones MatCAD.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Índice de dificultad por materia.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5 presets: repaso, simulacro, examen asignatura…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Examen dirigido tras fallos en la sesión.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Examen del día: 24 preguntas compartidas (semilla de fecha).</a:t>
            </a:r>
          </a:p>
        </p:txBody>
      </p:sp>
      <p:pic>
        <p:nvPicPr>
          <p:cNvPr id="6" name="Picture 5" descr="tfg_historia_carru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891" y="987552"/>
            <a:ext cx="4962144" cy="37216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15/20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Gamificación: resistencia y escape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Resistencia: escalada, maldiciones, power-ups.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Escape: 5–50 salas, economía, jefe final.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Inventario compartido entre modos arcade.</a:t>
            </a:r>
          </a:p>
        </p:txBody>
      </p:sp>
      <p:pic>
        <p:nvPicPr>
          <p:cNvPr id="6" name="Picture 5" descr="tfg_resistencia_parti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3218688" cy="24140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4443984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Modo resistencia — partida en curso</a:t>
            </a:r>
          </a:p>
        </p:txBody>
      </p:sp>
      <p:pic>
        <p:nvPicPr>
          <p:cNvPr id="8" name="Picture 7" descr="tfg_escape_tien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7" y="1984248"/>
            <a:ext cx="3218688" cy="2414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36007" y="4443984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Escape room — tienda entre salas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16/20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Validación y control de calidad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987552"/>
            <a:ext cx="2025395" cy="868680"/>
          </a:xfrm>
          <a:prstGeom prst="round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078992"/>
            <a:ext cx="2025395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578</a:t>
            </a:r>
          </a:p>
          <a:p>
            <a:pPr algn="ctr">
              <a:defRPr sz="900">
                <a:solidFill>
                  <a:srgbClr val="E8F0F8"/>
                </a:solidFill>
              </a:defRPr>
            </a:pPr>
            <a:r>
              <a:t>tests +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00884" y="987552"/>
            <a:ext cx="2025395" cy="868680"/>
          </a:xfrm>
          <a:prstGeom prst="round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00884" y="1078992"/>
            <a:ext cx="2025395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0</a:t>
            </a:r>
          </a:p>
          <a:p>
            <a:pPr algn="ctr">
              <a:defRPr sz="900">
                <a:solidFill>
                  <a:srgbClr val="E8F0F8"/>
                </a:solidFill>
              </a:defRPr>
            </a:pPr>
            <a:r>
              <a:t>duplicados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987552"/>
            <a:ext cx="2025395" cy="868680"/>
          </a:xfrm>
          <a:prstGeom prst="round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078992"/>
            <a:ext cx="2025395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480</a:t>
            </a:r>
          </a:p>
          <a:p>
            <a:pPr algn="ctr">
              <a:defRPr sz="900">
                <a:solidFill>
                  <a:srgbClr val="E8F0F8"/>
                </a:solidFill>
              </a:defRPr>
            </a:pPr>
            <a:r>
              <a:t>ítems revisados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34556" y="987552"/>
            <a:ext cx="2025395" cy="868680"/>
          </a:xfrm>
          <a:prstGeom prst="round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4556" y="1078992"/>
            <a:ext cx="2025395" cy="7589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50 000</a:t>
            </a:r>
          </a:p>
          <a:p>
            <a:pPr algn="ctr">
              <a:defRPr sz="900">
                <a:solidFill>
                  <a:srgbClr val="E8F0F8"/>
                </a:solidFill>
              </a:defRPr>
            </a:pPr>
            <a:r>
              <a:t>réplicas Monte Carlo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057400"/>
            <a:ext cx="8375904" cy="2578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mantenimiento.py validar · auditar-distractores · duplicados.py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github.com/Dafafi63f/Escape-Room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17/20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Simulación Monte Carlo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960120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Respuestas al azar (p = 1/4 por ítem).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Nota media ≈ 2,5/10 en examen de 20 preguntas.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Fracción de aciertos ≈ 25 % (50 000 réplicas).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300">
                <a:solidFill>
                  <a:srgbClr val="2A2A2A"/>
                </a:solidFill>
              </a:rPr>
              <a:t>Aprobar por azar: estadísticamente inviable.</a:t>
            </a:r>
          </a:p>
        </p:txBody>
      </p:sp>
      <p:pic>
        <p:nvPicPr>
          <p:cNvPr id="6" name="Picture 5" descr="monte_carlo_histograma_no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984248"/>
            <a:ext cx="4123944" cy="16411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3671104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Histograma de notas</a:t>
            </a:r>
          </a:p>
        </p:txBody>
      </p:sp>
      <p:pic>
        <p:nvPicPr>
          <p:cNvPr id="8" name="Picture 7" descr="monte_carlo_converg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7" y="1984248"/>
            <a:ext cx="4123944" cy="22121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636007" y="4242149"/>
            <a:ext cx="4123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88888"/>
                </a:solidFill>
              </a:defRPr>
            </a:pPr>
            <a:r>
              <a:t>Convergencia de la media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18/20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Sistema pity (equidad en partidas largas)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Sin pity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35024"/>
            <a:ext cx="4073652" cy="106673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15,6 % partidas sin descanso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Racha p95: 29 salas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Mayor frustración aleatoria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300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Con pity (implementado)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6300" y="1335024"/>
            <a:ext cx="4073652" cy="1066739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0 % partidas sin descanso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Racha p95: 4 salas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Motivación sostenida</a:t>
            </a:r>
          </a:p>
        </p:txBody>
      </p:sp>
      <p:pic>
        <p:nvPicPr>
          <p:cNvPr id="9" name="Picture 8" descr="pity_comparacion_descan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456627"/>
            <a:ext cx="3622269" cy="2252532"/>
          </a:xfrm>
          <a:prstGeom prst="rect">
            <a:avLst/>
          </a:prstGeom>
        </p:spPr>
      </p:pic>
      <p:pic>
        <p:nvPicPr>
          <p:cNvPr id="10" name="Picture 9" descr="pity_distribucion_primer_descan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456627"/>
            <a:ext cx="3915034" cy="225253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19/20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Contribución y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8375904" cy="3721608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De listado genérico a herramienta con criterio didáctico explícito.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Banco trazable + cinco modos jugables + arquitectura extensible.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Paquetes portables listos para distribución (Python + pygame-ce).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400">
                <a:solidFill>
                  <a:srgbClr val="2A2A2A"/>
                </a:solidFill>
              </a:rPr>
              <a:t>Base sólida para piloto, narrativa gráfica e integración Moodle.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2E6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4048" y="4773168"/>
            <a:ext cx="837590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8888"/>
                </a:solidFill>
              </a:defRPr>
            </a:pPr>
            <a:r>
              <a:t>TFG MatCAD — Daniel Fageda Figueredo          20/20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347472"/>
            <a:ext cx="8375904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b="1" sz="2200">
                <a:solidFill>
                  <a:srgbClr val="1A3A5C"/>
                </a:solidFill>
              </a:defRPr>
            </a:pPr>
            <a:r>
              <a:t>Limitaciones y trabajo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Limitaciones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35024"/>
            <a:ext cx="4073652" cy="3374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Sin piloto con usuarios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Narrativa gráfica incompleta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Una materia por pregunta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Sin prerrequisitos en 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6300" y="987552"/>
            <a:ext cx="40736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>
                <a:solidFill>
                  <a:srgbClr val="2E6BA4"/>
                </a:solidFill>
              </a:defRPr>
            </a:pPr>
            <a:r>
              <a:t>Trabajo futuro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6300" y="1335024"/>
            <a:ext cx="4073652" cy="3374136"/>
          </a:xfrm>
          <a:prstGeom prst="rect">
            <a:avLst/>
          </a:prstGeom>
          <a:noFill/>
        </p:spPr>
        <p:txBody>
          <a:bodyPr wrap="square" anchor="t">
            <a:norm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Piloto 15–20 estudiantes (SUS)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Materias_relacionadas / Prerequisitos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Escape room narrativo completo</a:t>
            </a:r>
          </a:p>
          <a:p>
            <a:pPr>
              <a:lnSpc>
                <a:spcPct val="105000"/>
              </a:lnSpc>
              <a:spcAft>
                <a:spcPts val="300"/>
              </a:spcAft>
            </a:pPr>
            <a:r>
              <a:rPr sz="1200">
                <a:solidFill>
                  <a:srgbClr val="2A2A2A"/>
                </a:solidFill>
              </a:rPr>
              <a:t>Moodle · panel de feedback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000">
                <a:solidFill>
                  <a:srgbClr val="FFFFFF"/>
                </a:solidFill>
              </a:defRPr>
            </a:pPr>
            <a:r>
              <a:t>Gracias — ¿Preguntas?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D0E4F5"/>
                </a:solidFill>
              </a:defRPr>
            </a:pPr>
            <a:r>
              <a:t>Daniel Fageda Figueredo · NIU 1601846</a:t>
            </a:r>
            <a:br/>
            <a:r>
              <a:t>Tutor: Víctor Navas Portella · UAB</a:t>
            </a:r>
            <a:br/>
            <a:r>
              <a:t>github.com/Dafafi63f/Escape-Room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